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65500-B13D-4348-A9D1-C8B37C17957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8AE7C-F7B3-45C2-951A-910D585AF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25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65500-B13D-4348-A9D1-C8B37C17957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8AE7C-F7B3-45C2-951A-910D585AF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01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65500-B13D-4348-A9D1-C8B37C17957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8AE7C-F7B3-45C2-951A-910D585AF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77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65500-B13D-4348-A9D1-C8B37C17957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8AE7C-F7B3-45C2-951A-910D585AF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97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65500-B13D-4348-A9D1-C8B37C17957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8AE7C-F7B3-45C2-951A-910D585AF7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708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65500-B13D-4348-A9D1-C8B37C17957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8AE7C-F7B3-45C2-951A-910D585AF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86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65500-B13D-4348-A9D1-C8B37C17957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8AE7C-F7B3-45C2-951A-910D585AF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17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65500-B13D-4348-A9D1-C8B37C17957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8AE7C-F7B3-45C2-951A-910D585AF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65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A665500-B13D-4348-A9D1-C8B37C17957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8AE7C-F7B3-45C2-951A-910D585AF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7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65500-B13D-4348-A9D1-C8B37C17957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8AE7C-F7B3-45C2-951A-910D585AF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34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65500-B13D-4348-A9D1-C8B37C17957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8AE7C-F7B3-45C2-951A-910D585AF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7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A665500-B13D-4348-A9D1-C8B37C17957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118AE7C-F7B3-45C2-951A-910D585AF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3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ython.org/" TargetMode="External"/><Relationship Id="rId3" Type="http://schemas.openxmlformats.org/officeDocument/2006/relationships/hyperlink" Target="https://learn.microsoft.com/en-us/windows/wsl/install" TargetMode="External"/><Relationship Id="rId7" Type="http://schemas.openxmlformats.org/officeDocument/2006/relationships/hyperlink" Target="https://aioquic.readthedocs.io/en/latest/" TargetMode="External"/><Relationship Id="rId2" Type="http://schemas.openxmlformats.org/officeDocument/2006/relationships/hyperlink" Target="https://ourarchive.otago.ac.nz/esploro/outputs/doctoral/Optimising-TCP-slow-start-in-depth-analysis-and/9926545580001891?institution=64OTAGO_INS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n7.org/linux/man-pages/man8/tc-netem.8.html" TargetMode="External"/><Relationship Id="rId5" Type="http://schemas.openxmlformats.org/officeDocument/2006/relationships/hyperlink" Target="https://iperf.fr/" TargetMode="External"/><Relationship Id="rId4" Type="http://schemas.openxmlformats.org/officeDocument/2006/relationships/hyperlink" Target="https://blog.cloudflare.com/the-road-to-quic/" TargetMode="External"/><Relationship Id="rId9" Type="http://schemas.openxmlformats.org/officeDocument/2006/relationships/hyperlink" Target="https://www.wireshark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6C459-2C53-92E6-45CA-93AD50E7A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863" y="196645"/>
            <a:ext cx="11238271" cy="20549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b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Vs QUIC Under Wireless-like Random Packet Loss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EE6750 - 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Over Wireless Networks</a:t>
            </a:r>
            <a:b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3/6/2026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1A3AF-BACD-2CE7-707E-46775897E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863" y="2251587"/>
            <a:ext cx="11238271" cy="4483510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&amp; Roles:</a:t>
            </a:r>
          </a:p>
          <a:p>
            <a:pPr marL="800100" lvl="1" indent="-342900" algn="l"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Raghuvamsi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Lekkala: Implementation, experiments, data collection</a:t>
            </a:r>
          </a:p>
          <a:p>
            <a:pPr marL="800100" lvl="1" indent="-342900" algn="l"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Krishna Sri Mannam: Experiment design, analysis, report writing</a:t>
            </a:r>
          </a:p>
          <a:p>
            <a:pPr marL="285750" indent="-285750" algn="l"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We Are Using:</a:t>
            </a:r>
          </a:p>
          <a:p>
            <a:pPr marL="857250" lvl="1" indent="-400050" algn="l"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+mj-lt"/>
              <a:buAutoNum type="romanLcPeriod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WSL2 +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netem: Simulating random wireless packet loss on Windows (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craigloewen-msft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2024).</a:t>
            </a:r>
          </a:p>
          <a:p>
            <a:pPr marL="857250" lvl="1" indent="-400050" algn="l"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+mj-lt"/>
              <a:buAutoNum type="romanLcPeriod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aioquic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Running QUIC protocol (Python library) (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Lainé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2026).</a:t>
            </a:r>
          </a:p>
          <a:p>
            <a:pPr marL="857250" lvl="1" indent="-400050" algn="l"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+mj-lt"/>
              <a:buAutoNum type="romanLcPeriod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Python sockets/iperf3: Running TCP for comparison (GUEANT, 2013)</a:t>
            </a:r>
          </a:p>
          <a:p>
            <a:pPr marL="857250" lvl="1" indent="-400050" algn="l"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+mj-lt"/>
              <a:buAutoNum type="romanLcPeriod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Wireshark: Capturing and inspecting packets (Wireshark Foundation, n.d.)</a:t>
            </a:r>
          </a:p>
          <a:p>
            <a:pPr marL="857250" lvl="1" indent="-400050" algn="l"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+mj-lt"/>
              <a:buAutoNum type="romanLcPeriod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Python (matplotlib): Plotting graphs and analyzing results (Python, 2025)</a:t>
            </a:r>
          </a:p>
          <a:p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81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13E1A-2800-793A-E068-D1C5AB9C8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33" y="404254"/>
            <a:ext cx="11229224" cy="775618"/>
          </a:xfrm>
        </p:spPr>
        <p:txBody>
          <a:bodyPr>
            <a:normAutofit/>
          </a:bodyPr>
          <a:lstStyle/>
          <a:p>
            <a:pPr algn="l"/>
            <a:r>
              <a:rPr lang="en-US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A9AFC-2CD1-88CE-0145-B1330F564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33" y="1356852"/>
            <a:ext cx="11229224" cy="5220929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 networks drop packets due to interference, not congestion.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 misinterprets packet loss as congestion, slowing down unnecessarily 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Arghavani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2026).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 was designed to handle loss more intelligently 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Ghedini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2018).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Question: 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QUIC compare to TCP in throughput and flow completion time when transferring a 10MB file under random wireless-like packet loss rates of 0%, 1%, 3%, 5%, and 10%?</a:t>
            </a:r>
          </a:p>
        </p:txBody>
      </p:sp>
    </p:spTree>
    <p:extLst>
      <p:ext uri="{BB962C8B-B14F-4D97-AF65-F5344CB8AC3E}">
        <p14:creationId xmlns:p14="http://schemas.microsoft.com/office/powerpoint/2010/main" val="405145593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FFA7C-9065-6370-94B0-7D2087833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39" y="157316"/>
            <a:ext cx="11100619" cy="823005"/>
          </a:xfrm>
        </p:spPr>
        <p:txBody>
          <a:bodyPr/>
          <a:lstStyle/>
          <a:p>
            <a:pPr algn="l"/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C90B-9A0A-7B9D-C92B-B4BE51310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101213"/>
            <a:ext cx="11100619" cy="5461819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Impact: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internet traffic runs over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mobile networks, yet TCP was designed for wired networks in the 1970s.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experience slow downloads and buffering on uncongested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is Already Using QUIC?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Google, YouTube, HTTP/3: Faster page loads, reduced buffering, better mobile performance.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Meta/Facebook: Improved mobile network performance.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Research Matters:</a:t>
            </a:r>
          </a:p>
          <a:p>
            <a:pPr marL="571500" lvl="1" indent="-3429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need data: Exact figures on TCP degradation vs QUIC under real loss conditions.</a:t>
            </a:r>
          </a:p>
          <a:p>
            <a:pPr marL="571500" lvl="1" indent="-3429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 is not always available: Some firewalls block UDP, forcing TCP use.</a:t>
            </a:r>
          </a:p>
          <a:p>
            <a:pPr marL="571500" lvl="1" indent="-3429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engineers need this: To make informed protocol decisions and justify infrastructure upgrades.</a:t>
            </a:r>
          </a:p>
        </p:txBody>
      </p:sp>
    </p:spTree>
    <p:extLst>
      <p:ext uri="{BB962C8B-B14F-4D97-AF65-F5344CB8AC3E}">
        <p14:creationId xmlns:p14="http://schemas.microsoft.com/office/powerpoint/2010/main" val="94399015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CE9E9-04AB-7788-6FE0-7DF7A2918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3" y="246937"/>
            <a:ext cx="11572566" cy="871036"/>
          </a:xfrm>
        </p:spPr>
        <p:txBody>
          <a:bodyPr/>
          <a:lstStyle/>
          <a:p>
            <a:pPr algn="l"/>
            <a:r>
              <a:rPr lang="en-US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6BF6-0E19-9691-B4B1-F291650C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3" y="1258529"/>
            <a:ext cx="6607276" cy="535253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Actually Happens in a Wireless Network?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Layer: Loss due to radio interference and noise.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Layer: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 retries failed frames (4-7 attempts), then drops the frame.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Layer: Both TCP and QUIC see packet loss, but react differently.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Simulating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netem: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qdisc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dev eth0 root netem loss 5% - Simulates random packet loss.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DFC977-372B-A9DC-FE7C-929475951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053" y="1258530"/>
            <a:ext cx="4866966" cy="53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404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7CEA-D32F-B39F-D49B-65AA6278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166" y="168279"/>
            <a:ext cx="11317716" cy="831707"/>
          </a:xfrm>
        </p:spPr>
        <p:txBody>
          <a:bodyPr/>
          <a:lstStyle/>
          <a:p>
            <a:pPr algn="l"/>
            <a:r>
              <a:rPr lang="en-US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Layered Reasoning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15419-4904-2482-A565-2ABF89CB7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166" y="1081548"/>
            <a:ext cx="11317717" cy="5683046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at Each Layer: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Layer: Random bit errors due to interference.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Layer: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retries failed frames.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Layer: Both TCP and QUIC detect lost packets but react differently.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Layer: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TCP: Assumes loss is due to congestion, halves CWND (Congestion Window).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QUIC: Selective retransmit, minimal CWND reduction.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Layer: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TCP: Slower file transfer.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QUIC: Faster, smoother file transfer.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misinterprets packet loss as congestion, slowing down unnecessarily.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 handles loss more efficiently, maintaining better throughput.</a:t>
            </a:r>
          </a:p>
        </p:txBody>
      </p:sp>
    </p:spTree>
    <p:extLst>
      <p:ext uri="{BB962C8B-B14F-4D97-AF65-F5344CB8AC3E}">
        <p14:creationId xmlns:p14="http://schemas.microsoft.com/office/powerpoint/2010/main" val="134537047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877D4-722C-24F8-411F-A3C2B6114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503" y="246937"/>
            <a:ext cx="11416039" cy="70679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2B7F1-1041-AA7A-ED33-92FBBC9D8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503" y="1170039"/>
            <a:ext cx="11416038" cy="5338916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H1 - Throughput: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Hypothesis: QUIC will maintain higher throughput than TCP as packet loss increases.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Reasoning: TCP’s congestion window halves with each loss, while QUIC maintains a more consistent sending rate.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H2 - Flow Completion Time (FCT):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Hypothesis: QUIC will complete the file transfer faster and more consistently than TCP.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Reasoning: QUIC recovers faster, while TCP’s repeated slowdowns result in longer transfers.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H3 - Retransmissions: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Hypothesis: TCP’s retransmission count will increase faster than QUIC’s.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Reasoning: TCP retransmits more data unnecessarily, while QUIC only retransmits lost packets.</a:t>
            </a:r>
          </a:p>
        </p:txBody>
      </p:sp>
    </p:spTree>
    <p:extLst>
      <p:ext uri="{BB962C8B-B14F-4D97-AF65-F5344CB8AC3E}">
        <p14:creationId xmlns:p14="http://schemas.microsoft.com/office/powerpoint/2010/main" val="83992082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DD10-B9C9-DF36-A155-AE7E4D6CF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0" y="245807"/>
            <a:ext cx="11484080" cy="757084"/>
          </a:xfrm>
        </p:spPr>
        <p:txBody>
          <a:bodyPr/>
          <a:lstStyle/>
          <a:p>
            <a:pPr algn="l"/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4F0A0-33E4-6693-7EE5-379448ACB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0" y="1111045"/>
            <a:ext cx="5742040" cy="561422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Emulation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Emulation allows for real protocol behavior in a controlled, repeatable environment.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netem is used for packet loss simulation on Windows using WSL2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Kerrisk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n.d.).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Variable: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Rate: 0%, 1%, 3%, 5%, 10%.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Measured: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Goodput: Mbps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Completion Time (FCT):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Retransmissions: Count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CDF: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EF5CA6-ACEF-FB22-396D-5E0DC86DC856}"/>
              </a:ext>
            </a:extLst>
          </p:cNvPr>
          <p:cNvSpPr txBox="1">
            <a:spLocks/>
          </p:cNvSpPr>
          <p:nvPr/>
        </p:nvSpPr>
        <p:spPr>
          <a:xfrm>
            <a:off x="6685935" y="1111045"/>
            <a:ext cx="5152104" cy="5501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vs Comparison: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Baseline: TCP Cubic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 QUIC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aioquic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Scenarios: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1: No loss (0%)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2: Medium loss (3%)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3: High loss (10%)</a:t>
            </a:r>
          </a:p>
        </p:txBody>
      </p:sp>
    </p:spTree>
    <p:extLst>
      <p:ext uri="{BB962C8B-B14F-4D97-AF65-F5344CB8AC3E}">
        <p14:creationId xmlns:p14="http://schemas.microsoft.com/office/powerpoint/2010/main" val="288244438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3E083-3BC3-9811-0407-E960B0AD6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73" y="217439"/>
            <a:ext cx="11716437" cy="726457"/>
          </a:xfrm>
        </p:spPr>
        <p:txBody>
          <a:bodyPr>
            <a:normAutofit fontScale="90000"/>
          </a:bodyPr>
          <a:lstStyle/>
          <a:p>
            <a:pPr algn="l"/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729E1-2552-FEC8-B4A1-759F2221B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174" y="1173037"/>
            <a:ext cx="6598232" cy="5467523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Have Done So Far: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WSL2 Environment Setup: Completed and tested with necessary tools installed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aioquic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iperf3,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netem, python).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Injection Ready: Tested packet loss injection with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netem.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Repository: Set up with all scripts and experiment details documented.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1: Finalize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aioquic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and client, collect first QUIC results.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2: Full data collection (100 runs).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3: Analysis, CDF plots, and comparison.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4: Final report and presentation.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3F515-24FB-446A-36EF-FD70C9AEF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393" y="1173037"/>
            <a:ext cx="5000218" cy="546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654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01CB-523A-E113-EE27-16297D5B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40" y="178111"/>
            <a:ext cx="11784476" cy="765786"/>
          </a:xfrm>
        </p:spPr>
        <p:txBody>
          <a:bodyPr/>
          <a:lstStyle/>
          <a:p>
            <a:pPr algn="l"/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BE347-F1F2-6810-34A1-13896A2BF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40" y="1153373"/>
            <a:ext cx="6685934" cy="5526515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/>
              <a:t>TCP Baseline Results (with 5 loss rates):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0%: 30,395 Mbps (baseline)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1%: 9,427 Mbps (↓ 69%)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3%: 1,489 Mbps (↓ 95%)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5%: 487 Mbps (↓ 98%)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10%: 113 Mbps (↓ 99.6%)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/>
              <a:t>Key Observations:</a:t>
            </a:r>
          </a:p>
          <a:p>
            <a:pPr marL="571500" lvl="1" indent="-342900">
              <a:lnSpc>
                <a:spcPct val="16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Exponential degradation: Even 1% packet loss causes a 70% drop in throughput.</a:t>
            </a:r>
          </a:p>
          <a:p>
            <a:pPr marL="571500" lvl="1" indent="-342900">
              <a:lnSpc>
                <a:spcPct val="16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TCP's vulnerability: Performance collapses as packet loss increases, especially at 10%.</a:t>
            </a:r>
          </a:p>
          <a:p>
            <a:pPr marL="571500" lvl="1" indent="-342900">
              <a:lnSpc>
                <a:spcPct val="16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Supports our hypothesis: TCP is highly sensitive to random packet loss.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/>
              <a:t>Next Step: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/>
              <a:t>To run QUIC side-by-side and compare performance.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688FC8-A143-BF78-3A08-7238B4AC7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065" y="1153372"/>
            <a:ext cx="5010050" cy="552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8922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F6D02-1AA3-68E7-1FD5-461ECA723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73" y="226143"/>
            <a:ext cx="11416039" cy="825910"/>
          </a:xfrm>
        </p:spPr>
        <p:txBody>
          <a:bodyPr/>
          <a:lstStyle/>
          <a:p>
            <a:pPr algn="l"/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Rubric Alignment And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7AC01-E679-F714-452D-CA38D86EA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173" y="1160206"/>
            <a:ext cx="11416038" cy="559455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Rubric Alignment: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Motivation: Clearly defined with real-world impact.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Concepts: Full 5-layer reasoning from Physical to Application layer.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Design: 5 loss rates, 10 trials each, 100 runs, CDFs and confidence intervals planned.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Status: WSL2 environment working, baseline experiments completed.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Analysis: Early data collected and visualized.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Reproducibility: GitHub repo live, all scripts and commands documented.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Schedule: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1: Finalize QUIC setup, verify results.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2: Full data collection (100 runs).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3: Analysis, graphs, CDFs.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4: Report, presentation, final submission.</a:t>
            </a:r>
          </a:p>
        </p:txBody>
      </p:sp>
    </p:spTree>
    <p:extLst>
      <p:ext uri="{BB962C8B-B14F-4D97-AF65-F5344CB8AC3E}">
        <p14:creationId xmlns:p14="http://schemas.microsoft.com/office/powerpoint/2010/main" val="384800166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15A7A-D84A-91B3-7BEB-542935374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88" y="117987"/>
            <a:ext cx="11513575" cy="76691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1C219-D3BC-27E7-3F35-63EBA1BF9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8" y="983226"/>
            <a:ext cx="11513575" cy="5668297"/>
          </a:xfrm>
        </p:spPr>
        <p:txBody>
          <a:bodyPr>
            <a:normAutofit/>
          </a:bodyPr>
          <a:lstStyle/>
          <a:p>
            <a:pPr marL="0" marR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Arghavani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 (2026).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Optimising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TCP slow-start: in-depth analysis and enhanced designs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Otago.ac.nz. 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https://ourarchive.otago.ac.nz/esploro/outputs/doctoral/Optimising-TCP-slow-start-in-depth-analysis-and/9926545580001891?institution=64OTAGO_INST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craigloewen-msft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(2024).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Install WSL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Learn.microsoft.com. 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https://learn.microsoft.com/en-us/windows/wsl/install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  <a:p>
            <a:pPr marL="0" marR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Ghedini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A. (2018).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Road to QUIC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The Cloudflare Blog. 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https://blog.cloudflare.com/the-road-to-quic/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GUEANT, V. (2013).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iPerf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The TCP, UDP and SCTP network bandwidth measurement tool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Iperf.fr. 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https://iperf.fr/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Kerrisk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 (n.d.).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tc-netem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(8) - Linux manual page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Man7.org. 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https://man7.org/linux/man-pages/man8/tc-netem.8.html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Lainé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J. (2026).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aioquic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— </a:t>
            </a:r>
            <a:r>
              <a:rPr lang="en-US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aioquic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documentation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Readthedocs.io. 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https://aioquic.readthedocs.io/en/latest/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Python. (2025).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Python.org; Python.org. 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https://www.python.org/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Foundtion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(n.d.).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Wireshark.org. 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https://www.wireshark.org/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470535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0</TotalTime>
  <Words>1314</Words>
  <Application>Microsoft Office PowerPoint</Application>
  <PresentationFormat>Widescreen</PresentationFormat>
  <Paragraphs>122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Gill Sans MT</vt:lpstr>
      <vt:lpstr>Times New Roman</vt:lpstr>
      <vt:lpstr>Wingdings</vt:lpstr>
      <vt:lpstr>Parcel</vt:lpstr>
      <vt:lpstr> TCP Vs QUIC Under Wireless-like Random Packet Loss EE6750 - Transport Over Wireless Networks 3/6/2026 </vt:lpstr>
      <vt:lpstr>Problem Statement &amp; Research Question</vt:lpstr>
      <vt:lpstr>Why It Matters</vt:lpstr>
      <vt:lpstr>Wireless Mechanisms</vt:lpstr>
      <vt:lpstr>Layered Reasoning Map</vt:lpstr>
      <vt:lpstr>Hypotheses</vt:lpstr>
      <vt:lpstr>Experimental Design</vt:lpstr>
      <vt:lpstr>Implementation Progress</vt:lpstr>
      <vt:lpstr>Early Results</vt:lpstr>
      <vt:lpstr>Rubric Alignment And Schedule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2026-03-06T08:23:06Z</dcterms:created>
  <dcterms:modified xsi:type="dcterms:W3CDTF">2026-03-06T09:05:40Z</dcterms:modified>
</cp:coreProperties>
</file>